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d5dfa785794dba" /><Relationship Type="http://schemas.openxmlformats.org/officeDocument/2006/relationships/extended-properties" Target="/docProps/app.xml" Id="R699a3cdbd11f4a0d" /><Relationship Type="http://schemas.openxmlformats.org/officeDocument/2006/relationships/officeDocument" Target="/ppt/presentation.xml" Id="Raf452f1c5d1b40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6cccbde45e4e0b"/>
  </p:sldMasterIdLst>
  <p:notesMasterIdLst>
    <p:notesMasterId xmlns:r="http://schemas.openxmlformats.org/officeDocument/2006/relationships" r:id="R1c62d7ea83c4467a"/>
  </p:notesMasterIdLst>
  <p:sldIdLst>
    <p:sldId xmlns:r="http://schemas.openxmlformats.org/officeDocument/2006/relationships" id="256" r:id="R9e5017bf73104491"/>
    <p:sldId xmlns:r="http://schemas.openxmlformats.org/officeDocument/2006/relationships" id="257" r:id="Rbcdae68f948e4f6b"/>
    <p:sldId xmlns:r="http://schemas.openxmlformats.org/officeDocument/2006/relationships" id="258" r:id="R0a7342d1d52345f0"/>
    <p:sldId xmlns:r="http://schemas.openxmlformats.org/officeDocument/2006/relationships" id="259" r:id="R73a504e693084215"/>
    <p:sldId xmlns:r="http://schemas.openxmlformats.org/officeDocument/2006/relationships" id="260" r:id="R130691caac344a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7c725afdae40e2" /><Relationship Type="http://schemas.openxmlformats.org/officeDocument/2006/relationships/slideMaster" Target="/ppt/slideMasters/slideMaster1.xml" Id="Ra76cccbde45e4e0b" /><Relationship Type="http://schemas.openxmlformats.org/officeDocument/2006/relationships/notesMaster" Target="/ppt/notesMasters/notesMaster1.xml" Id="R1c62d7ea83c4467a" /><Relationship Type="http://schemas.openxmlformats.org/officeDocument/2006/relationships/presProps" Target="/ppt/presProps.xml" Id="Re3ed4445a24d40eb" /><Relationship Type="http://schemas.openxmlformats.org/officeDocument/2006/relationships/tableStyles" Target="/ppt/tableStyles.xml" Id="Rabe7c637e88c455c" /><Relationship Type="http://schemas.openxmlformats.org/officeDocument/2006/relationships/slide" Target="/ppt/slides/slide1.xml" Id="R9e5017bf73104491" /><Relationship Type="http://schemas.openxmlformats.org/officeDocument/2006/relationships/slide" Target="/ppt/slides/slide2.xml" Id="Rbcdae68f948e4f6b" /><Relationship Type="http://schemas.openxmlformats.org/officeDocument/2006/relationships/slide" Target="/ppt/slides/slide3.xml" Id="R0a7342d1d52345f0" /><Relationship Type="http://schemas.openxmlformats.org/officeDocument/2006/relationships/slide" Target="/ppt/slides/slide4.xml" Id="R73a504e693084215" /><Relationship Type="http://schemas.openxmlformats.org/officeDocument/2006/relationships/slide" Target="/ppt/slides/slide5.xml" Id="R130691caac344a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cef566233e43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8d880508fa4b27" /><Relationship Type="http://schemas.openxmlformats.org/officeDocument/2006/relationships/notesMaster" Target="/ppt/notesMasters/notesMaster1.xml" Id="Red09029a6c4646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d564a9ce534185" /><Relationship Type="http://schemas.openxmlformats.org/officeDocument/2006/relationships/notesMaster" Target="/ppt/notesMasters/notesMaster1.xml" Id="R1502be1f9acd41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750b49eacd4e88" /><Relationship Type="http://schemas.openxmlformats.org/officeDocument/2006/relationships/notesMaster" Target="/ppt/notesMasters/notesMaster1.xml" Id="R48ac895c6c1e4f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ccf25c70204fa1" /><Relationship Type="http://schemas.openxmlformats.org/officeDocument/2006/relationships/notesMaster" Target="/ppt/notesMasters/notesMaster1.xml" Id="R9af72d2fb28542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627066c3c5481d" /><Relationship Type="http://schemas.openxmlformats.org/officeDocument/2006/relationships/notesMaster" Target="/ppt/notesMasters/notesMaster1.xml" Id="R1f646f2a23c44d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ThermoTwin asks what can be inferred and decided from sparse thermoelectric measurements. Lead with the problem, not the software inventory.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equations define the state evolution; a virtual test stand hides and corrupts selected states; inference and design operate only on the declared observations. The conventional solver is the numerical reference throughout.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thermotwin/ROADMAP.md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data-only network fits the retained noisy samples slightly better and trains faster. The physics constraint earns its keep on missing readings, completely hidden face temperatures, and the independently assembled first-law audit. The energy equation is a post-training calculation, not an independent physical law.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thermotwin/FORWARD_RECONSTRUCTION_COMPARISON.md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examples span diagnosis, experiment design, and robust product screening. The selected-pulse result is also 11.77 percent better than a closer-energy grid control, so the result is not only an energy-budget effect. The 55.3 percent pass rate is intentionally retained as a negative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thermotwin/ENGINEERING_SHOWCASE.md</a:t>
            </a:r>
          </a:p>
          <a:p xmlns:a="http://schemas.openxmlformats.org/drawingml/2006/main">
            <a:r>
              <a:t>- thermotwin/NONLINEAR_EXPERIMENT_SELECTION.md</a:t>
            </a:r>
          </a:p>
          <a:p xmlns:a="http://schemas.openxmlformats.org/drawingml/2006/main">
            <a:r>
              <a:t>- thermotwin/MATERIAL_GEOMETRY_BAYESIAN_CODESIGN.md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separating software and synthetic evidence from physical validation. The next claim should quantify model discrepancy on a calibrated test stand, not add complexity to the neural network.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thermotwin/TECHNICAL_SUMMARY.md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4cf745bae845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3010376aaf4864" /><Relationship Type="http://schemas.openxmlformats.org/officeDocument/2006/relationships/slideLayout" Target="/ppt/slideLayouts/slideLayout1.xml" Id="Rc7b171313d3f48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b171313d3f48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21e8a677a44fc" /><Relationship Type="http://schemas.openxmlformats.org/officeDocument/2006/relationships/notesSlide" Target="/ppt/notesSlides/notesSlide1.xml" Id="R7aa7fcf7f70849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a882c6da4445f" /><Relationship Type="http://schemas.openxmlformats.org/officeDocument/2006/relationships/notesSlide" Target="/ppt/notesSlides/notesSlide2.xml" Id="R4ff30bfdbb734c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5b143313e4448" /><Relationship Type="http://schemas.openxmlformats.org/officeDocument/2006/relationships/chart" Target="/ppt/slides/charts/chart1.xml" Id="R202cdfa13d1d4da0" /><Relationship Type="http://schemas.openxmlformats.org/officeDocument/2006/relationships/notesSlide" Target="/ppt/notesSlides/notesSlide3.xml" Id="R20b02535926d42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394be12444b13" /><Relationship Type="http://schemas.openxmlformats.org/officeDocument/2006/relationships/notesSlide" Target="/ppt/notesSlides/notesSlide4.xml" Id="R37162c2c0ab144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24adf39fc4f3c" /><Relationship Type="http://schemas.openxmlformats.org/officeDocument/2006/relationships/notesSlide" Target="/ppt/notesSlides/notesSlide5.xml" Id="Rb253a3e4b3944a6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Error reduction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Missing exchanger</c:v>
              </c:pt>
              <c:pt idx="1">
                <c:v>Hidden faces</c:v>
              </c:pt>
              <c:pt idx="2">
                <c:v>Energy closure</c:v>
              </c:pt>
            </c:strLit>
          </c:cat>
          <c:val>
            <c:numLit>
              <c:formatCode>0'%'</c:formatCode>
              <c:ptCount val="3"/>
              <c:pt idx="0">
                <c:v>87.86</c:v>
              </c:pt>
              <c:pt idx="1">
                <c:v>99.68</c:v>
              </c:pt>
              <c:pt idx="2">
                <c:v>99.19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018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182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52606D"/>
                    </a:solidFill>
                  </a:rPr>
                  <a:t>Reduction versus data-only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52606D"/>
                  </a:solidFill>
                </a:defRPr>
              </a:pPr>
            </a:p>
          </c:txPr>
        </c:title>
        <c:numFmt formatCode="0'%'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B379CBB6-6CA4-497A-9448-C392A37F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BA1686E3-D1D5-4965-94CE-9F83A5D3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THERMOTWIN · TECHNICAL OVERVIEW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6BBE855-EA5A-48B1-8227-DF93CB87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99060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Physics-informed models</a:t>
            </a:r>
          </a:p>
          <a:p xmlns:a="http://schemas.openxmlformats.org/drawingml/2006/main">
            <a:pPr>
              <a:defRPr sz="51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for device decisions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2FB5393-0943-4B23-9724-8ABE62CF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Thermoelectric heat flow, imperfect sensors, inverse inference, controls, and next-experiment selection in one reproducible package.</a:t>
            </a:r>
          </a:p>
        </p:txBody>
      </p:sp>
      <p:sp>
        <p:nvSpPr>
          <p:cNvPr id="5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F531A872-E0FF-44D9-959F-1B3C21FE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Open-source · CPU-first · conventional solvers remain the reference</a:t>
            </a:r>
          </a:p>
        </p:txBody>
      </p:sp>
    </p:spTree>
    <p:extLst>
      <p:ext uri="{BB962C8B-B14F-4D97-AF65-F5344CB8AC3E}">
        <p14:creationId xmlns:p14="http://schemas.microsoft.com/office/powerpoint/2010/main" val="1028050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498DC861-A648-4757-A608-8E633E9D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One transparent chain connects heat flow to decisions</a:t>
            </a:r>
          </a:p>
        </p:txBody>
      </p:sp>
      <p:sp>
        <p:nvSpPr>
          <p:cNvPr id="2" name="slide-2-title-rule">
            <a:extLst xmlns:a="http://schemas.openxmlformats.org/drawingml/2006/main">
              <a:ext uri="{FF2B5EF4-FFF2-40B4-BE49-F238E27FC236}">
                <a16:creationId xmlns:a16="http://schemas.microsoft.com/office/drawing/2014/main" id="{0A637E9B-59C5-4D5F-BB26-C44EBB40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0" name="model-chain"/>
          <p:cNvCxnSpPr/>
          <p:nvPr/>
        </p:nvCxnSpPr>
        <p:spPr>
          <a:xfrm xmlns:a="http://schemas.openxmlformats.org/drawingml/2006/main">
            <a:off x="857250" y="3257550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0"/>
            </a:solidFill>
            <a:prstDash val="solid"/>
          </a:ln>
        </p:spPr>
      </p:cxnSp>
      <p:sp>
        <p:nvSpPr>
          <p:cNvPr id="4" name="chain-node-1">
            <a:extLst xmlns:a="http://schemas.openxmlformats.org/drawingml/2006/main">
              <a:ext uri="{FF2B5EF4-FFF2-40B4-BE49-F238E27FC236}">
                <a16:creationId xmlns:a16="http://schemas.microsoft.com/office/drawing/2014/main" id="{193A6ED5-F358-4894-A90A-8A4869D3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71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5" name="chain-node-2">
            <a:extLst xmlns:a="http://schemas.openxmlformats.org/drawingml/2006/main">
              <a:ext uri="{FF2B5EF4-FFF2-40B4-BE49-F238E27FC236}">
                <a16:creationId xmlns:a16="http://schemas.microsoft.com/office/drawing/2014/main" id="{248C76FF-59FA-4EE2-9DC0-0215D40E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71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chain-node-3">
            <a:extLst xmlns:a="http://schemas.openxmlformats.org/drawingml/2006/main">
              <a:ext uri="{FF2B5EF4-FFF2-40B4-BE49-F238E27FC236}">
                <a16:creationId xmlns:a16="http://schemas.microsoft.com/office/drawing/2014/main" id="{BFA8A91A-C267-4909-8B78-5D46336E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71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7" name="stage-1-label">
            <a:extLst xmlns:a="http://schemas.openxmlformats.org/drawingml/2006/main">
              <a:ext uri="{FF2B5EF4-FFF2-40B4-BE49-F238E27FC236}">
                <a16:creationId xmlns:a16="http://schemas.microsoft.com/office/drawing/2014/main" id="{9E5E98E6-7248-41FF-8DFA-9A62E11D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98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01 · PHYSICS</a:t>
            </a:r>
          </a:p>
        </p:txBody>
      </p:sp>
      <p:sp>
        <p:nvSpPr>
          <p:cNvPr id="8" name="stage-1-heading">
            <a:extLst xmlns:a="http://schemas.openxmlformats.org/drawingml/2006/main">
              <a:ext uri="{FF2B5EF4-FFF2-40B4-BE49-F238E27FC236}">
                <a16:creationId xmlns:a16="http://schemas.microsoft.com/office/drawing/2014/main" id="{EB416F74-4B2F-4F0B-A275-6E35D20E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052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Energy balances</a:t>
            </a:r>
          </a:p>
        </p:txBody>
      </p:sp>
      <p:sp>
        <p:nvSpPr>
          <p:cNvPr id="9" name="stage-1-body">
            <a:extLst xmlns:a="http://schemas.openxmlformats.org/drawingml/2006/main">
              <a:ext uri="{FF2B5EF4-FFF2-40B4-BE49-F238E27FC236}">
                <a16:creationId xmlns:a16="http://schemas.microsoft.com/office/drawing/2014/main" id="{CA2C0117-A1EF-48FA-92B0-4BC2ED88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Four thermal states</a:t>
            </a:r>
          </a:p>
          <a:p xmlns:a="http://schemas.openxmlformats.org/drawingml/2006/main">
            <a:pPr>
              <a:defRPr sz="13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Peltier + Joule + conduction</a:t>
            </a:r>
          </a:p>
          <a:p xmlns:a="http://schemas.openxmlformats.org/drawingml/2006/main">
            <a:pPr>
              <a:defRPr sz="13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Contacts, exchangers, PWM</a:t>
            </a:r>
          </a:p>
          <a:p xmlns:a="http://schemas.openxmlformats.org/drawingml/2006/main">
            <a:pPr>
              <a:defRPr sz="13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RK4 reference + energy checks</a:t>
            </a:r>
          </a:p>
        </p:txBody>
      </p:sp>
      <p:sp>
        <p:nvSpPr>
          <p:cNvPr id="10" name="stage-2-label">
            <a:extLst xmlns:a="http://schemas.openxmlformats.org/drawingml/2006/main">
              <a:ext uri="{FF2B5EF4-FFF2-40B4-BE49-F238E27FC236}">
                <a16:creationId xmlns:a16="http://schemas.microsoft.com/office/drawing/2014/main" id="{DEB79A18-3096-4787-8630-7584898F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098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· OBSERVE</a:t>
            </a:r>
          </a:p>
        </p:txBody>
      </p:sp>
      <p:sp>
        <p:nvSpPr>
          <p:cNvPr id="11" name="stage-2-heading">
            <a:extLst xmlns:a="http://schemas.openxmlformats.org/drawingml/2006/main">
              <a:ext uri="{FF2B5EF4-FFF2-40B4-BE49-F238E27FC236}">
                <a16:creationId xmlns:a16="http://schemas.microsoft.com/office/drawing/2014/main" id="{5956717A-8DEE-4A5E-A080-FD254E2D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052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Imperfect sensors</a:t>
            </a:r>
          </a:p>
        </p:txBody>
      </p:sp>
      <p:sp>
        <p:nvSpPr>
          <p:cNvPr id="12" name="stage-2-body">
            <a:extLst xmlns:a="http://schemas.openxmlformats.org/drawingml/2006/main">
              <a:ext uri="{FF2B5EF4-FFF2-40B4-BE49-F238E27FC236}">
                <a16:creationId xmlns:a16="http://schemas.microsoft.com/office/drawing/2014/main" id="{5A0AE939-528F-4925-B187-32169251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8625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Noise, bias, lag + gaps</a:t>
            </a:r>
          </a:p>
          <a:p xmlns:a="http://schemas.openxmlformats.org/drawingml/2006/main">
            <a:pPr>
              <a:defRPr sz="13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Sparse exchanger data</a:t>
            </a:r>
          </a:p>
          <a:p xmlns:a="http://schemas.openxmlformats.org/drawingml/2006/main">
            <a:pPr>
              <a:defRPr sz="13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Hidden module-face states</a:t>
            </a:r>
          </a:p>
        </p:txBody>
      </p:sp>
      <p:sp>
        <p:nvSpPr>
          <p:cNvPr id="13" name="stage-3-label">
            <a:extLst xmlns:a="http://schemas.openxmlformats.org/drawingml/2006/main">
              <a:ext uri="{FF2B5EF4-FFF2-40B4-BE49-F238E27FC236}">
                <a16:creationId xmlns:a16="http://schemas.microsoft.com/office/drawing/2014/main" id="{973DAD15-2EDB-4A0B-812C-84180095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098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03 · DECIDE</a:t>
            </a:r>
          </a:p>
        </p:txBody>
      </p:sp>
      <p:sp>
        <p:nvSpPr>
          <p:cNvPr id="14" name="stage-3-heading">
            <a:extLst xmlns:a="http://schemas.openxmlformats.org/drawingml/2006/main">
              <a:ext uri="{FF2B5EF4-FFF2-40B4-BE49-F238E27FC236}">
                <a16:creationId xmlns:a16="http://schemas.microsoft.com/office/drawing/2014/main" id="{23597C10-2546-44CC-BC28-87DC2E59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052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Inference and design</a:t>
            </a:r>
          </a:p>
        </p:txBody>
      </p:sp>
      <p:sp>
        <p:nvSpPr>
          <p:cNvPr id="15" name="stage-3-body">
            <a:extLst xmlns:a="http://schemas.openxmlformats.org/drawingml/2006/main">
              <a:ext uri="{FF2B5EF4-FFF2-40B4-BE49-F238E27FC236}">
                <a16:creationId xmlns:a16="http://schemas.microsoft.com/office/drawing/2014/main" id="{2147394E-4F0F-44E0-93CC-7D0991A9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8625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Identify—or reject—parameters</a:t>
            </a:r>
          </a:p>
          <a:p xmlns:a="http://schemas.openxmlformats.org/drawingml/2006/main">
            <a:pPr>
              <a:defRPr sz="13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Compare controls + COP</a:t>
            </a:r>
          </a:p>
          <a:p xmlns:a="http://schemas.openxmlformats.org/drawingml/2006/main">
            <a:pPr>
              <a:defRPr sz="13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Choose the next experiment</a:t>
            </a:r>
          </a:p>
        </p:txBody>
      </p:sp>
      <p:sp>
        <p:nvSpPr>
          <p:cNvPr id="16" name="slide-2-boundary">
            <a:extLst xmlns:a="http://schemas.openxmlformats.org/drawingml/2006/main">
              <a:ext uri="{FF2B5EF4-FFF2-40B4-BE49-F238E27FC236}">
                <a16:creationId xmlns:a16="http://schemas.microsoft.com/office/drawing/2014/main" id="{2893C8DC-174B-4D20-84EE-E7160C64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SYNTHETIC EVIDENCE · NOT HARDWARE VALIDATION</a:t>
            </a:r>
          </a:p>
        </p:txBody>
      </p:sp>
      <p:sp>
        <p:nvSpPr>
          <p:cNvPr id="17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3F8015C4-0144-4EF6-B4F4-9B11BDF8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769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429181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D82BEEC9-65D3-4F76-AA02-C591E0C6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Physics matters most where sensors cannot see</a:t>
            </a:r>
          </a:p>
        </p:txBody>
      </p:sp>
      <p:sp>
        <p:nvSpPr>
          <p:cNvPr id="2" name="slide-3-title-rule">
            <a:extLst xmlns:a="http://schemas.openxmlformats.org/drawingml/2006/main">
              <a:ext uri="{FF2B5EF4-FFF2-40B4-BE49-F238E27FC236}">
                <a16:creationId xmlns:a16="http://schemas.microsoft.com/office/drawing/2014/main" id="{E868BCEB-8991-4CE4-9DEA-F9690282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00050" y="1581150"/>
          <a:ext xmlns:a="http://schemas.openxmlformats.org/drawingml/2006/main" cx="5810250" cy="4267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2cdfa13d1d4da0"/>
          </a:graphicData>
        </a:graphic>
      </p:graphicFrame>
      <p:sp>
        <p:nvSpPr>
          <p:cNvPr id="4" name="matched-design-summary">
            <a:extLst xmlns:a="http://schemas.openxmlformats.org/drawingml/2006/main">
              <a:ext uri="{FF2B5EF4-FFF2-40B4-BE49-F238E27FC236}">
                <a16:creationId xmlns:a16="http://schemas.microsoft.com/office/drawing/2014/main" id="{B47F3815-1D1D-43BF-ADC8-7974E958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9545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Five paired trials · 56 identical noisy rows · six rows missing around turn-off · neither face observed</a:t>
            </a:r>
          </a:p>
        </p:txBody>
      </p:sp>
      <p:sp>
        <p:nvSpPr>
          <p:cNvPr id="5" name="hidden-stat-panel">
            <a:extLst xmlns:a="http://schemas.openxmlformats.org/drawingml/2006/main">
              <a:ext uri="{FF2B5EF4-FFF2-40B4-BE49-F238E27FC236}">
                <a16:creationId xmlns:a16="http://schemas.microsoft.com/office/drawing/2014/main" id="{D790CADB-2061-4290-B383-EB97DCAB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86100"/>
            <a:ext cx="22669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idden-stat">
            <a:extLst xmlns:a="http://schemas.openxmlformats.org/drawingml/2006/main">
              <a:ext uri="{FF2B5EF4-FFF2-40B4-BE49-F238E27FC236}">
                <a16:creationId xmlns:a16="http://schemas.microsoft.com/office/drawing/2014/main" id="{007DDEDD-933C-4E74-B873-96676B4F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8137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0.0071 K</a:t>
            </a:r>
          </a:p>
        </p:txBody>
      </p:sp>
      <p:sp>
        <p:nvSpPr>
          <p:cNvPr id="7" name="hidden-stat-label">
            <a:extLst xmlns:a="http://schemas.openxmlformats.org/drawingml/2006/main">
              <a:ext uri="{FF2B5EF4-FFF2-40B4-BE49-F238E27FC236}">
                <a16:creationId xmlns:a16="http://schemas.microsoft.com/office/drawing/2014/main" id="{5256D2DB-AFCB-404A-A634-A8BA7CD0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10050"/>
            <a:ext cx="1885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Physics-informed</a:t>
            </a:r>
          </a:p>
          <a:p xmlns:a="http://schemas.openxmlformats.org/drawingml/2006/main">
            <a:pPr>
              <a:defRPr sz="135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hidden-face RMSE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Data-only: 2.19 K</a:t>
            </a:r>
          </a:p>
        </p:txBody>
      </p:sp>
      <p:sp>
        <p:nvSpPr>
          <p:cNvPr id="8" name="trial-stat-panel">
            <a:extLst xmlns:a="http://schemas.openxmlformats.org/drawingml/2006/main">
              <a:ext uri="{FF2B5EF4-FFF2-40B4-BE49-F238E27FC236}">
                <a16:creationId xmlns:a16="http://schemas.microsoft.com/office/drawing/2014/main" id="{C0D4452A-E29D-4B51-A9BB-2543EFD0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86100"/>
            <a:ext cx="22669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rial-stat">
            <a:extLst xmlns:a="http://schemas.openxmlformats.org/drawingml/2006/main">
              <a:ext uri="{FF2B5EF4-FFF2-40B4-BE49-F238E27FC236}">
                <a16:creationId xmlns:a16="http://schemas.microsoft.com/office/drawing/2014/main" id="{05FF6060-8CA5-4CDE-AF07-B6286F6A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8137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 / 5</a:t>
            </a:r>
          </a:p>
        </p:txBody>
      </p:sp>
      <p:sp>
        <p:nvSpPr>
          <p:cNvPr id="10" name="trial-stat-label">
            <a:extLst xmlns:a="http://schemas.openxmlformats.org/drawingml/2006/main">
              <a:ext uri="{FF2B5EF4-FFF2-40B4-BE49-F238E27FC236}">
                <a16:creationId xmlns:a16="http://schemas.microsoft.com/office/drawing/2014/main" id="{F84BEB57-4499-4DD2-8EBF-E26D100A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210050"/>
            <a:ext cx="1885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Trials show all three</a:t>
            </a:r>
          </a:p>
          <a:p xmlns:a="http://schemas.openxmlformats.org/drawingml/2006/main">
            <a:pPr>
              <a:defRPr sz="135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primary advantages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No trial discarded</a:t>
            </a:r>
          </a:p>
        </p:txBody>
      </p:sp>
      <p:sp>
        <p:nvSpPr>
          <p:cNvPr id="11" name="slide-3-boundary">
            <a:extLst xmlns:a="http://schemas.openxmlformats.org/drawingml/2006/main">
              <a:ext uri="{FF2B5EF4-FFF2-40B4-BE49-F238E27FC236}">
                <a16:creationId xmlns:a16="http://schemas.microsoft.com/office/drawing/2014/main" id="{710493D5-5411-4D1A-AAF6-20F04371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SYNTHETIC EVIDENCE · NOT HARDWARE VALIDATION</a:t>
            </a:r>
          </a:p>
        </p:txBody>
      </p:sp>
      <p:sp>
        <p:nvSpPr>
          <p:cNvPr id="1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301A60CE-6919-4F28-B658-795BDF24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769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6233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C38075E8-30BD-4EF1-8C6D-90BE2E37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twin changes engineering decisions—not only curves</a:t>
            </a:r>
          </a:p>
        </p:txBody>
      </p:sp>
      <p:sp>
        <p:nvSpPr>
          <p:cNvPr id="2" name="slide-4-title-rule">
            <a:extLst xmlns:a="http://schemas.openxmlformats.org/drawingml/2006/main">
              <a:ext uri="{FF2B5EF4-FFF2-40B4-BE49-F238E27FC236}">
                <a16:creationId xmlns:a16="http://schemas.microsoft.com/office/drawing/2014/main" id="{BFC2A5E9-F48A-4278-BCCE-7312313D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3" name="decision-line"/>
          <p:cNvCxnSpPr/>
          <p:nvPr/>
        </p:nvCxnSpPr>
        <p:spPr>
          <a:xfrm xmlns:a="http://schemas.openxmlformats.org/drawingml/2006/main">
            <a:off x="971550" y="3143250"/>
            <a:ext cx="952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decision-node-1">
            <a:extLst xmlns:a="http://schemas.openxmlformats.org/drawingml/2006/main">
              <a:ext uri="{FF2B5EF4-FFF2-40B4-BE49-F238E27FC236}">
                <a16:creationId xmlns:a16="http://schemas.microsoft.com/office/drawing/2014/main" id="{8F6AC2C2-96E4-4F25-B131-3D244C4A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5" name="decision-1-label">
            <a:extLst xmlns:a="http://schemas.openxmlformats.org/drawingml/2006/main">
              <a:ext uri="{FF2B5EF4-FFF2-40B4-BE49-F238E27FC236}">
                <a16:creationId xmlns:a16="http://schemas.microsoft.com/office/drawing/2014/main" id="{E4BCE7B4-13D9-4A79-9492-B13DDAD1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431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INFER</a:t>
            </a:r>
          </a:p>
        </p:txBody>
      </p:sp>
      <p:sp>
        <p:nvSpPr>
          <p:cNvPr id="6" name="decision-1-stat">
            <a:extLst xmlns:a="http://schemas.openxmlformats.org/drawingml/2006/main">
              <a:ext uri="{FF2B5EF4-FFF2-40B4-BE49-F238E27FC236}">
                <a16:creationId xmlns:a16="http://schemas.microsoft.com/office/drawing/2014/main" id="{54A43A65-9DD0-4F48-BEC9-632D0C85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623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0.251 K/W</a:t>
            </a:r>
          </a:p>
        </p:txBody>
      </p:sp>
      <p:sp>
        <p:nvSpPr>
          <p:cNvPr id="7" name="decision-1-heading">
            <a:extLst xmlns:a="http://schemas.openxmlformats.org/drawingml/2006/main">
              <a:ext uri="{FF2B5EF4-FFF2-40B4-BE49-F238E27FC236}">
                <a16:creationId xmlns:a16="http://schemas.microsoft.com/office/drawing/2014/main" id="{3D2A29C5-0972-41F3-888A-0A4C7F91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386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Hidden contact resistance</a:t>
            </a:r>
          </a:p>
        </p:txBody>
      </p:sp>
      <p:sp>
        <p:nvSpPr>
          <p:cNvPr id="8" name="decision-1-body">
            <a:extLst xmlns:a="http://schemas.openxmlformats.org/drawingml/2006/main">
              <a:ext uri="{FF2B5EF4-FFF2-40B4-BE49-F238E27FC236}">
                <a16:creationId xmlns:a16="http://schemas.microsoft.com/office/drawing/2014/main" id="{D79632B8-0459-43E3-B82C-7F7D89F8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91075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Recovered using only noisy exchanger temperatures; withheld-sensor RMSE is 0.00187 K.</a:t>
            </a:r>
          </a:p>
        </p:txBody>
      </p:sp>
      <p:sp>
        <p:nvSpPr>
          <p:cNvPr id="9" name="decision-node-2">
            <a:extLst xmlns:a="http://schemas.openxmlformats.org/drawingml/2006/main">
              <a:ext uri="{FF2B5EF4-FFF2-40B4-BE49-F238E27FC236}">
                <a16:creationId xmlns:a16="http://schemas.microsoft.com/office/drawing/2014/main" id="{E4D1C6E7-C4BF-46A0-8CFF-2A4164E5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decision-2-label">
            <a:extLst xmlns:a="http://schemas.openxmlformats.org/drawingml/2006/main">
              <a:ext uri="{FF2B5EF4-FFF2-40B4-BE49-F238E27FC236}">
                <a16:creationId xmlns:a16="http://schemas.microsoft.com/office/drawing/2014/main" id="{EBFF448D-D443-4110-9BF8-02DCB02C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431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SELECT</a:t>
            </a:r>
          </a:p>
        </p:txBody>
      </p:sp>
      <p:sp>
        <p:nvSpPr>
          <p:cNvPr id="11" name="decision-2-stat">
            <a:extLst xmlns:a="http://schemas.openxmlformats.org/drawingml/2006/main">
              <a:ext uri="{FF2B5EF4-FFF2-40B4-BE49-F238E27FC236}">
                <a16:creationId xmlns:a16="http://schemas.microsoft.com/office/drawing/2014/main" id="{A7C58E26-3241-402B-A0FF-A2D79F88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623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81.46%</a:t>
            </a:r>
          </a:p>
        </p:txBody>
      </p:sp>
      <p:sp>
        <p:nvSpPr>
          <p:cNvPr id="12" name="decision-2-heading">
            <a:extLst xmlns:a="http://schemas.openxmlformats.org/drawingml/2006/main">
              <a:ext uri="{FF2B5EF4-FFF2-40B4-BE49-F238E27FC236}">
                <a16:creationId xmlns:a16="http://schemas.microsoft.com/office/drawing/2014/main" id="{A644204E-2D29-41C0-90D9-9817FD84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386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Lower joint error</a:t>
            </a:r>
          </a:p>
        </p:txBody>
      </p:sp>
      <p:sp>
        <p:nvSpPr>
          <p:cNvPr id="13" name="decision-2-body">
            <a:extLst xmlns:a="http://schemas.openxmlformats.org/drawingml/2006/main">
              <a:ext uri="{FF2B5EF4-FFF2-40B4-BE49-F238E27FC236}">
                <a16:creationId xmlns:a16="http://schemas.microsoft.com/office/drawing/2014/main" id="{719A8B07-A40F-462A-9C76-5A0187B9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791075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Selected 0.8 A, 20 s pulse versus a naive choice after 20 complete nonlinear refits.</a:t>
            </a:r>
          </a:p>
        </p:txBody>
      </p:sp>
      <p:sp>
        <p:nvSpPr>
          <p:cNvPr id="14" name="decision-node-3">
            <a:extLst xmlns:a="http://schemas.openxmlformats.org/drawingml/2006/main">
              <a:ext uri="{FF2B5EF4-FFF2-40B4-BE49-F238E27FC236}">
                <a16:creationId xmlns:a16="http://schemas.microsoft.com/office/drawing/2014/main" id="{08354A85-2492-4ADE-85D6-FCCC36E1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15" name="decision-3-label">
            <a:extLst xmlns:a="http://schemas.openxmlformats.org/drawingml/2006/main">
              <a:ext uri="{FF2B5EF4-FFF2-40B4-BE49-F238E27FC236}">
                <a16:creationId xmlns:a16="http://schemas.microsoft.com/office/drawing/2014/main" id="{BC9097E2-0D23-4855-B401-D4764401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5431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STRESS-TEST</a:t>
            </a:r>
          </a:p>
        </p:txBody>
      </p:sp>
      <p:sp>
        <p:nvSpPr>
          <p:cNvPr id="16" name="decision-3-stat">
            <a:extLst xmlns:a="http://schemas.openxmlformats.org/drawingml/2006/main">
              <a:ext uri="{FF2B5EF4-FFF2-40B4-BE49-F238E27FC236}">
                <a16:creationId xmlns:a16="http://schemas.microsoft.com/office/drawing/2014/main" id="{DC9BCA7F-D852-4C6D-A92F-6FB92DD2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5623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55.3%</a:t>
            </a:r>
          </a:p>
        </p:txBody>
      </p:sp>
      <p:sp>
        <p:nvSpPr>
          <p:cNvPr id="17" name="decision-3-heading">
            <a:extLst xmlns:a="http://schemas.openxmlformats.org/drawingml/2006/main">
              <a:ext uri="{FF2B5EF4-FFF2-40B4-BE49-F238E27FC236}">
                <a16:creationId xmlns:a16="http://schemas.microsoft.com/office/drawing/2014/main" id="{20FFC251-1AAB-418E-9DB3-5EE79ABF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2386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As-built pass rate</a:t>
            </a:r>
          </a:p>
        </p:txBody>
      </p:sp>
      <p:sp>
        <p:nvSpPr>
          <p:cNvPr id="18" name="decision-3-body">
            <a:extLst xmlns:a="http://schemas.openxmlformats.org/drawingml/2006/main">
              <a:ext uri="{FF2B5EF4-FFF2-40B4-BE49-F238E27FC236}">
                <a16:creationId xmlns:a16="http://schemas.microsoft.com/office/drawing/2014/main" id="{91C11137-81E9-4016-885B-08D19B78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791075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 nominal efficiency winner becomes fragile under the declared virtual manufacturing spread.</a:t>
            </a:r>
          </a:p>
        </p:txBody>
      </p:sp>
      <p:sp>
        <p:nvSpPr>
          <p:cNvPr id="19" name="slide-4-boundary">
            <a:extLst xmlns:a="http://schemas.openxmlformats.org/drawingml/2006/main">
              <a:ext uri="{FF2B5EF4-FFF2-40B4-BE49-F238E27FC236}">
                <a16:creationId xmlns:a16="http://schemas.microsoft.com/office/drawing/2014/main" id="{157748C9-0672-4787-9774-BFFF4380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SYNTHETIC EVIDENCE · NOT HARDWARE VALIDATION</a:t>
            </a:r>
          </a:p>
        </p:txBody>
      </p:sp>
      <p:sp>
        <p:nvSpPr>
          <p:cNvPr id="20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7D347D4E-C66D-4734-807E-E7BF2DEC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769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820020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0981A089-190D-4DB1-B84C-98A4B0CE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next proof must come from hardware</a:t>
            </a:r>
          </a:p>
        </p:txBody>
      </p:sp>
      <p:sp>
        <p:nvSpPr>
          <p:cNvPr id="2" name="slide-5-title-rule">
            <a:extLst xmlns:a="http://schemas.openxmlformats.org/drawingml/2006/main">
              <a:ext uri="{FF2B5EF4-FFF2-40B4-BE49-F238E27FC236}">
                <a16:creationId xmlns:a16="http://schemas.microsoft.com/office/drawing/2014/main" id="{41BA4005-C778-416B-B03A-17FFA7F3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stablished-heading">
            <a:extLst xmlns:a="http://schemas.openxmlformats.org/drawingml/2006/main">
              <a:ext uri="{FF2B5EF4-FFF2-40B4-BE49-F238E27FC236}">
                <a16:creationId xmlns:a16="http://schemas.microsoft.com/office/drawing/2014/main" id="{3F33F7F8-19C0-44C5-AECD-24B99A77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What is established</a:t>
            </a:r>
          </a:p>
        </p:txBody>
      </p:sp>
      <p:sp>
        <p:nvSpPr>
          <p:cNvPr id="4" name="established-body">
            <a:extLst xmlns:a="http://schemas.openxmlformats.org/drawingml/2006/main">
              <a:ext uri="{FF2B5EF4-FFF2-40B4-BE49-F238E27FC236}">
                <a16:creationId xmlns:a16="http://schemas.microsoft.com/office/drawing/2014/main" id="{5F545229-68A4-4292-A53C-DCE52DD5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5095875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• Tested signs, limits, energy identities, and numerics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• Reproducible synthetic comparisons with conventional baselines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• Explicit identifiability, bias, failure, and transfer checks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• 500+ automated tests and passing hosted CI</a:t>
            </a:r>
          </a:p>
        </p:txBody>
      </p:sp>
      <p:sp>
        <p:nvSpPr>
          <p:cNvPr id="5" name="not-established-heading">
            <a:extLst xmlns:a="http://schemas.openxmlformats.org/drawingml/2006/main">
              <a:ext uri="{FF2B5EF4-FFF2-40B4-BE49-F238E27FC236}">
                <a16:creationId xmlns:a16="http://schemas.microsoft.com/office/drawing/2014/main" id="{887489D7-DEAF-4D84-8370-C89EA6BC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What remains unproven</a:t>
            </a:r>
          </a:p>
        </p:txBody>
      </p:sp>
      <p:sp>
        <p:nvSpPr>
          <p:cNvPr id="6" name="not-established-body">
            <a:extLst xmlns:a="http://schemas.openxmlformats.org/drawingml/2006/main">
              <a:ext uri="{FF2B5EF4-FFF2-40B4-BE49-F238E27FC236}">
                <a16:creationId xmlns:a16="http://schemas.microsoft.com/office/drawing/2014/main" id="{61087B3E-8DA8-45AA-9EB9-385BCC14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1435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• Agreement between the equations and a physical device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• Global identifiability or universal PINN superiority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• Manufacturing capability, real cost, or product performance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• Calibrated neural uncertainty intervals</a:t>
            </a:r>
          </a:p>
        </p:txBody>
      </p:sp>
      <p:sp>
        <p:nvSpPr>
          <p:cNvPr id="7" name="next-step-band">
            <a:extLst xmlns:a="http://schemas.openxmlformats.org/drawingml/2006/main">
              <a:ext uri="{FF2B5EF4-FFF2-40B4-BE49-F238E27FC236}">
                <a16:creationId xmlns:a16="http://schemas.microsoft.com/office/drawing/2014/main" id="{33A72C37-34CF-4BB2-8125-23B77A17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1106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ext-step-text">
            <a:extLst xmlns:a="http://schemas.openxmlformats.org/drawingml/2006/main">
              <a:ext uri="{FF2B5EF4-FFF2-40B4-BE49-F238E27FC236}">
                <a16:creationId xmlns:a16="http://schemas.microsoft.com/office/drawing/2014/main" id="{052E3AB6-4137-4638-8E94-D7BBDF5A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68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Next: collect calibrated current, voltage, and temperature data—fit on some complete experiments and predict one held out in its entirety.</a:t>
            </a:r>
          </a:p>
        </p:txBody>
      </p:sp>
      <p:sp>
        <p:nvSpPr>
          <p:cNvPr id="9" name="slide-5-boundary">
            <a:extLst xmlns:a="http://schemas.openxmlformats.org/drawingml/2006/main">
              <a:ext uri="{FF2B5EF4-FFF2-40B4-BE49-F238E27FC236}">
                <a16:creationId xmlns:a16="http://schemas.microsoft.com/office/drawing/2014/main" id="{6A8496ED-1B89-4571-AAC4-1A0E85BC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SYNTHETIC EVIDENCE · NOT HARDWARE VALIDATION</a:t>
            </a:r>
          </a:p>
        </p:txBody>
      </p:sp>
      <p:sp>
        <p:nvSpPr>
          <p:cNvPr id="10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D67BF361-C828-46CF-8588-FA27B099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769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350090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2026-09-03T19:46:40.5500000Z</dcterms:created>
  <dcterms:modified xsi:type="dcterms:W3CDTF">2026-09-03T19:46:40.5500000Z</dcterms:modified>
</coreProperties>
</file>